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aleway Light" pitchFamily="2" charset="0"/>
      <p:regular r:id="rId18"/>
      <p:italic r:id="rId19"/>
    </p:embeddedFont>
    <p:embeddedFont>
      <p:font typeface="Roboto" panose="02000000000000000000" pitchFamily="2" charset="0"/>
      <p:regular r:id="rId20"/>
    </p:embeddedFont>
    <p:embeddedFont>
      <p:font typeface="Roboto Bold" panose="02000000000000000000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97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06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Message Search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2347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Structures and Algorithms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978819"/>
            <a:ext cx="69694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Focus: Efficient String Pattern Matching in Chat Messages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29470"/>
            <a:ext cx="3097234" cy="10570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613819"/>
            <a:ext cx="26523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Akshay Chandra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3037582"/>
            <a:ext cx="26523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2510080055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4003" y="2429470"/>
            <a:ext cx="3097333" cy="10570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84545" y="2613819"/>
            <a:ext cx="26524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Manoj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84545" y="3037582"/>
            <a:ext cx="26524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2510080052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51845"/>
            <a:ext cx="3097234" cy="10570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836194"/>
            <a:ext cx="26523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Pranith Reddy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259957"/>
            <a:ext cx="26523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2510080051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4003" y="3651845"/>
            <a:ext cx="3097333" cy="10570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84545" y="3836194"/>
            <a:ext cx="26524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Balaji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184545" y="4259957"/>
            <a:ext cx="26524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2510080046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74220"/>
            <a:ext cx="3097234" cy="10570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2017" y="5058569"/>
            <a:ext cx="26523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Sai Charan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922017" y="5482332"/>
            <a:ext cx="26523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2510080053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312041" y="1829991"/>
            <a:ext cx="4343490" cy="4287341"/>
          </a:xfrm>
          <a:prstGeom prst="roundRect">
            <a:avLst>
              <a:gd name="adj" fmla="val 2778"/>
            </a:avLst>
          </a:prstGeom>
          <a:solidFill>
            <a:srgbClr val="D8AFF8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7477335" y="1995289"/>
            <a:ext cx="40129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477335" y="2419052"/>
            <a:ext cx="40129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implements and benchmarks five classical string-matching algorithms applied to a real chat message dataset, bridging theoretical DSA study with practical text-search applications.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477335" y="3663553"/>
            <a:ext cx="166544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7576551" y="3713163"/>
            <a:ext cx="207659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IMPLEMENTATION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477335" y="4101009"/>
            <a:ext cx="1122831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7576551" y="4150618"/>
            <a:ext cx="153398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ALGORITHMS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477335" y="4538464"/>
            <a:ext cx="219565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7576551" y="4588073"/>
            <a:ext cx="260680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BENCHMARKING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8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8292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906687"/>
            <a:ext cx="5796214" cy="200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the number of chat messages increases, finding a specific word or phrase from a large conversation history becomes difficult and time-consuming. A naive linear scan over thousands of messages is computationally expensive and does not scale.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efficiently searches and retrieves relevant chat messages using string-processing algorithms, enabling fast and measurable pattern matching across an entire message collection.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67452" y="1482923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67452" y="1927423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29463" y="1958429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04808" y="1984276"/>
            <a:ext cx="41316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for words or phrases within chat messages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67452" y="283190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29463" y="286290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04808" y="2888754"/>
            <a:ext cx="41316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multiple string matching algorithms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67452" y="373638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29463" y="376738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404808" y="3793232"/>
            <a:ext cx="41316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algorithms using execution time and number of comparisons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67452" y="464085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29463" y="467186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404808" y="4697710"/>
            <a:ext cx="41316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 and display messages containing the searched pattern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67452" y="5545336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29463" y="557634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404808" y="5602188"/>
            <a:ext cx="41316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Demonstrate practical application of DSA to text search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7561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Existing Research &amp; Research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0306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Previous Research Focus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3086"/>
            <a:ext cx="5270467" cy="1015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061" y="1666478"/>
            <a:ext cx="488749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Behaviour in Instant Messaging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91061" y="1985566"/>
            <a:ext cx="4887493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Studies on how users search within messaging apps, focusing on UX and retrieval patterns.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7631"/>
            <a:ext cx="5270467" cy="820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1061" y="2791023"/>
            <a:ext cx="488749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 Retrieval &amp; Classification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91061" y="3110111"/>
            <a:ext cx="4887493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NLP-based approaches to categorise and retrieve messages by topic or intent.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67410"/>
            <a:ext cx="5270467" cy="820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1061" y="3720802"/>
            <a:ext cx="488749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Mining of Chat Conversations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91061" y="4039890"/>
            <a:ext cx="4887493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Extracting structured information and sentiment from unstructured chat logs.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97189"/>
            <a:ext cx="5270467" cy="820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061" y="4650581"/>
            <a:ext cx="488749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Collaborative Platform Search Architecture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91061" y="4969669"/>
            <a:ext cx="4887493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System-level designs for search within platforms like Slack and Teams.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26968"/>
            <a:ext cx="5270467" cy="8206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1061" y="5580360"/>
            <a:ext cx="4887493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Conversational Search Systems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91061" y="5899448"/>
            <a:ext cx="4887493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Multi-turn dialogue systems that support iterative query refinement.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6169367" y="1071166"/>
            <a:ext cx="5463939" cy="5299273"/>
          </a:xfrm>
          <a:prstGeom prst="roundRect">
            <a:avLst>
              <a:gd name="adj" fmla="val 1826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6303706" y="1180306"/>
            <a:ext cx="519526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Gap We Fill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303706" y="1499394"/>
            <a:ext cx="5195261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 work focuses on high-level retrieval systems or NLP pipelines. There is limited comparative study of </a:t>
            </a: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classical string-matching algorithms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applied directly to chat message datasets with empirical benchmarking.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303706" y="2240062"/>
            <a:ext cx="519526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6303706" y="2415480"/>
            <a:ext cx="519526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303706" y="2734568"/>
            <a:ext cx="5195261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DSA-focused chat search system that implements and compares classical string-searching algorithms on the same chat dataset—filling the gap between theoretical algorithm study and practical text-search applications.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303706" y="3441700"/>
            <a:ext cx="5195261" cy="458291"/>
          </a:xfrm>
          <a:prstGeom prst="roundRect">
            <a:avLst>
              <a:gd name="adj" fmla="val 12315"/>
            </a:avLst>
          </a:prstGeom>
          <a:solidFill>
            <a:srgbClr val="3434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044" y="3606502"/>
            <a:ext cx="167973" cy="1343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40356" y="3573463"/>
            <a:ext cx="5233857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algorithms. One dataset. Measurable, reproducible results.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01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Pipeline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20255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Processing Flow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64755"/>
            <a:ext cx="5796214" cy="316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5802" y="3648851"/>
            <a:ext cx="1343028" cy="182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Dataset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817177" y="3628243"/>
            <a:ext cx="1343029" cy="182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160470" y="3634842"/>
            <a:ext cx="1343028" cy="182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67452" y="1720255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 Structure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67452" y="2144018"/>
            <a:ext cx="46690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message in the dataset is stored as a structured object with the following fields, enabling precise result attribution and timestamp-based retrieval.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67452" y="3123902"/>
            <a:ext cx="2251812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039097" y="3295551"/>
            <a:ext cx="190852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 ID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39097" y="3719314"/>
            <a:ext cx="190852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identifier for each message record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284559" y="3123902"/>
            <a:ext cx="2251912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6203" y="3295551"/>
            <a:ext cx="19086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56203" y="3719314"/>
            <a:ext cx="19086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or ID of the message author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67452" y="4585494"/>
            <a:ext cx="2251812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039097" y="4757142"/>
            <a:ext cx="190852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39097" y="5180905"/>
            <a:ext cx="190852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 and time the message was sent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284559" y="4585494"/>
            <a:ext cx="2251912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456203" y="4757142"/>
            <a:ext cx="19086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 Content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56203" y="5180905"/>
            <a:ext cx="19086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raw text string searched by the algorithm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2678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String Matching Algorithms Implemented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178123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classical algorithms were selected to cover a spectrum of preprocessing strategies, time complexities, and use-case strengths.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37593"/>
            <a:ext cx="10868745" cy="868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8221" y="1836043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85952" y="1701304"/>
            <a:ext cx="998056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Naïve String Matching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85952" y="2003227"/>
            <a:ext cx="998056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the pattern at every possible position in the text. No preprocessing required. Serves as the baseline for comparison.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32459"/>
            <a:ext cx="10868745" cy="868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8221" y="28309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385952" y="2696170"/>
            <a:ext cx="998056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Knuth–Morris–Pratt (KMP)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85952" y="2998093"/>
            <a:ext cx="998056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the LPS (Longest Prefix Suffix) array to avoid unnecessary comparisons, enabling linear-time search after O(m) preprocessing.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27326"/>
            <a:ext cx="10868745" cy="868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8221" y="3825776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385952" y="3691037"/>
            <a:ext cx="998056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Rabin–Karp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85952" y="3992959"/>
            <a:ext cx="998056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hash values and a rolling hash to identify possible matches, reducing character-level comparisons to only hash-confirmed candidates.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22192"/>
            <a:ext cx="10868745" cy="8682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8221" y="4820642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385952" y="4685903"/>
            <a:ext cx="998056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 Algorithm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85952" y="4987826"/>
            <a:ext cx="998056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the Z-array to efficiently determine how much of the pattern matches the text at each position, operating in O(n + m) time.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17059"/>
            <a:ext cx="10868745" cy="8682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8221" y="58155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385952" y="5680770"/>
            <a:ext cx="998056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Aho–Corasick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85952" y="5982692"/>
            <a:ext cx="9980561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a trie and failure links for efficient multi-pattern searching. Particularly powerful when searching for multiple keywords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2898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Walkthrough: "machine" in Chat Message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1068" y="1095573"/>
            <a:ext cx="4344085" cy="5279430"/>
          </a:xfrm>
          <a:prstGeom prst="roundRect">
            <a:avLst>
              <a:gd name="adj" fmla="val 2313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00566" y="1213247"/>
            <a:ext cx="406508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0566" y="1563688"/>
            <a:ext cx="4065089" cy="1395710"/>
          </a:xfrm>
          <a:prstGeom prst="roundRect">
            <a:avLst>
              <a:gd name="adj" fmla="val 4199"/>
            </a:avLst>
          </a:prstGeom>
          <a:solidFill>
            <a:srgbClr val="2828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7944" y="1703189"/>
            <a:ext cx="3730333" cy="1116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Message: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machine learning model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giving good accuracy."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Pattern: machine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0566" y="3126680"/>
            <a:ext cx="4065089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00566" y="3313013"/>
            <a:ext cx="406508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0566" y="3648670"/>
            <a:ext cx="4065089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Matching message identified successfully across all five algorithms. Each algorithm reaches the same correct result via a different internal mechanism.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51408" y="1213247"/>
            <a:ext cx="638506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Process by Algorithm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695" y="1567954"/>
            <a:ext cx="209247" cy="2092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04826" y="1563688"/>
            <a:ext cx="59316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Naïve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604826" y="1899345"/>
            <a:ext cx="59316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possible positions one by one — slides the pattern window across the text character by character with no skip logic.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695" y="2550815"/>
            <a:ext cx="209247" cy="2092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4826" y="2546548"/>
            <a:ext cx="59316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KMP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04826" y="2882205"/>
            <a:ext cx="59316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the LPS array to skip unnecessary comparisons — when a mismatch occurs, the pattern is shifted intelligently rather than restarting.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695" y="3533676"/>
            <a:ext cx="209247" cy="2092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04826" y="3529409"/>
            <a:ext cx="59316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Rabin–Karp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604826" y="3865066"/>
            <a:ext cx="59316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Compares hash values before character-by-character verification — only positions with a matching hash are fully verified.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695" y="4516537"/>
            <a:ext cx="209247" cy="2092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04826" y="4512270"/>
            <a:ext cx="59316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 Algorithm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604826" y="4847927"/>
            <a:ext cx="59316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Constructs a combined pattern-text sequence and uses the Z-array to find positions where the prefix matches the text substring.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3695" y="5499398"/>
            <a:ext cx="209247" cy="2092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04826" y="5495131"/>
            <a:ext cx="593164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Aho–Corasick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604826" y="5830788"/>
            <a:ext cx="59316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the text using trie transitions and failure links — each character is processed exactly once regardless of pattern count.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9566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Complexity Analysis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74763"/>
            <a:ext cx="1147833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text length, m = pattern length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78583"/>
          <a:ext cx="10868744" cy="2596294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Algorithm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Preprocessing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 Time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Extra Space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Naïve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O(1)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O(1)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KMP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Rabin–Karp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O(n) avg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O(1)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Z Algorithm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 + m)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Aho–Corasick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O(total pattern)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O(n + matches)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O(total pattern)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448984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1475" y="4765576"/>
            <a:ext cx="1086874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1475" y="5225752"/>
            <a:ext cx="2608098" cy="1132681"/>
          </a:xfrm>
          <a:prstGeom prst="roundRect">
            <a:avLst>
              <a:gd name="adj" fmla="val 57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5"/>
          <p:cNvSpPr/>
          <p:nvPr/>
        </p:nvSpPr>
        <p:spPr>
          <a:xfrm>
            <a:off x="822801" y="5387082"/>
            <a:ext cx="228544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 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801" y="5716488"/>
            <a:ext cx="2285447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Wall-clock time in milliseconds per algorithm run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4925" y="5225752"/>
            <a:ext cx="2608197" cy="1132681"/>
          </a:xfrm>
          <a:prstGeom prst="roundRect">
            <a:avLst>
              <a:gd name="adj" fmla="val 57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76250" y="5387082"/>
            <a:ext cx="22855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Number of Comparisons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76250" y="5716488"/>
            <a:ext cx="228554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Character-level comparison count tracked per search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8474" y="5225752"/>
            <a:ext cx="2608197" cy="1132681"/>
          </a:xfrm>
          <a:prstGeom prst="roundRect">
            <a:avLst>
              <a:gd name="adj" fmla="val 57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29799" y="5387082"/>
            <a:ext cx="22855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Matching Messages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29799" y="5716488"/>
            <a:ext cx="228554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of messages containing the search pattern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22023" y="5225752"/>
            <a:ext cx="2608197" cy="1132681"/>
          </a:xfrm>
          <a:prstGeom prst="roundRect">
            <a:avLst>
              <a:gd name="adj" fmla="val 57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083349" y="5387082"/>
            <a:ext cx="228554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Behaviour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083349" y="5716488"/>
            <a:ext cx="2285546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Observed performance across different pattern types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2997"/>
            <a:ext cx="10868745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850602"/>
            <a:ext cx="10868745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Pattern: "machine"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6827"/>
            <a:ext cx="3371270" cy="2971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04791"/>
            <a:ext cx="10868745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4535190"/>
            <a:ext cx="3563551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61475" y="5000923"/>
            <a:ext cx="356355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Naïve Comparisons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5213052"/>
            <a:ext cx="35635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0.9954 ms — highest comparison count, slowest execution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314023" y="4535190"/>
            <a:ext cx="3563551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314023" y="5000923"/>
            <a:ext cx="356355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KMP Comparisons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14023" y="5213052"/>
            <a:ext cx="35635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0.1278 ms — more comparisons than Naïve but fastest execution time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66570" y="4535190"/>
            <a:ext cx="3563551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966570" y="5000923"/>
            <a:ext cx="356355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Rabin–Karp Comparisons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66570" y="5213052"/>
            <a:ext cx="35635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0.1386 ms — fewest comparisons; hash filtering highly effective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487749" y="5553373"/>
            <a:ext cx="3563551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487749" y="6019105"/>
            <a:ext cx="356355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 Algorithm Comparisons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749" y="6231235"/>
            <a:ext cx="35635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24.1979 ms — low comparisons but highest wall-clock time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40296" y="5553373"/>
            <a:ext cx="3563551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436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140296" y="6019105"/>
            <a:ext cx="3563551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Aho–Corasick Comparisons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40296" y="6231235"/>
            <a:ext cx="3563551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4.5574 ms — trie overhead visible; optimised for multi-pattern use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013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Features &amp; Workflow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307306"/>
            <a:ext cx="334587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5032"/>
            <a:ext cx="3345870" cy="1362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3959" y="1851323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Keyword or Phrase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3959" y="2212677"/>
            <a:ext cx="2937099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 enters any word or multi-word phrase to locate within the message collection.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78671"/>
            <a:ext cx="3345870" cy="1362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3959" y="3344962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Selection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3959" y="3706316"/>
            <a:ext cx="2937099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user selects one of the five implemented string-matching algorithms to execute the search.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66994" y="1176139"/>
            <a:ext cx="3670307" cy="5162748"/>
          </a:xfrm>
          <a:prstGeom prst="roundRect">
            <a:avLst>
              <a:gd name="adj" fmla="val 289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414231" y="1307306"/>
            <a:ext cx="337583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Processing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414231" y="1685032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14231" y="1916212"/>
            <a:ext cx="3375834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414231" y="2027932"/>
            <a:ext cx="337583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14231" y="2389287"/>
            <a:ext cx="337583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Standardise the search pattern and all message text for consistent matching.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414231" y="3076575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414231" y="3307755"/>
            <a:ext cx="3375834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414231" y="3419475"/>
            <a:ext cx="337583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 Algorithm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414231" y="3780830"/>
            <a:ext cx="337583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selected string-matching algorithm against the message collection.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414231" y="4468118"/>
            <a:ext cx="294573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414231" y="4699298"/>
            <a:ext cx="3375834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414231" y="4811018"/>
            <a:ext cx="337583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&amp; Track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414231" y="5172373"/>
            <a:ext cx="337583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across all messages while counting comparisons and measuring execution time.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196950" y="1307306"/>
            <a:ext cx="334587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Fields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950" y="1685032"/>
            <a:ext cx="3345870" cy="113962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39435" y="1851323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Matching Message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439435" y="2212677"/>
            <a:ext cx="293709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text of each message containing the pattern</a:t>
            </a:r>
            <a:endParaRPr lang="en-US" sz="11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6950" y="2955826"/>
            <a:ext cx="3345870" cy="91678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439435" y="3122116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Sender &amp; Timestamp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439435" y="3483471"/>
            <a:ext cx="293709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Attribution and time context for each result</a:t>
            </a:r>
            <a:endParaRPr lang="en-US" sz="11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6950" y="4003774"/>
            <a:ext cx="3345870" cy="91678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39435" y="4170065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Match Position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439435" y="4531420"/>
            <a:ext cx="293709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 index where the pattern was found</a:t>
            </a:r>
            <a:endParaRPr lang="en-US" sz="11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950" y="5051723"/>
            <a:ext cx="3345870" cy="113962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39435" y="5218013"/>
            <a:ext cx="293709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Comparisons &amp; Time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439435" y="5579368"/>
            <a:ext cx="293709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Per-algorithm performance metrics for benchmarking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120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Details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268413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646138"/>
            <a:ext cx="2561764" cy="1337072"/>
          </a:xfrm>
          <a:prstGeom prst="roundRect">
            <a:avLst>
              <a:gd name="adj" fmla="val 46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5062" y="1799729"/>
            <a:ext cx="225459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Language: Java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5062" y="2161084"/>
            <a:ext cx="225459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implementation language for all algorithms and data structures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4403" y="1646138"/>
            <a:ext cx="2561764" cy="1337072"/>
          </a:xfrm>
          <a:prstGeom prst="roundRect">
            <a:avLst>
              <a:gd name="adj" fmla="val 46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07990" y="1799729"/>
            <a:ext cx="225459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ArrayList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07990" y="2161084"/>
            <a:ext cx="225459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for dynamic message storage and sequential access during search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114377"/>
            <a:ext cx="2561764" cy="1337072"/>
          </a:xfrm>
          <a:prstGeom prst="roundRect">
            <a:avLst>
              <a:gd name="adj" fmla="val 46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5062" y="3267968"/>
            <a:ext cx="225459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String 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062" y="3629323"/>
            <a:ext cx="225459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matching and text normalisation utilities built from scratch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54403" y="3114377"/>
            <a:ext cx="2561764" cy="1337072"/>
          </a:xfrm>
          <a:prstGeom prst="roundRect">
            <a:avLst>
              <a:gd name="adj" fmla="val 46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07990" y="3267968"/>
            <a:ext cx="225459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Trie &amp; Failure Links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7990" y="3629323"/>
            <a:ext cx="225459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data structure powering the Aho–Corasick multi-pattern engine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878" y="1268413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Measurement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1878" y="1646138"/>
            <a:ext cx="5254692" cy="113962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24363" y="1812429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 Time Tracking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24363" y="2173784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Wall-clock timing captured around each algorithm's search loop to produce millisecond-precision benchmarks.</a:t>
            </a:r>
            <a:endParaRPr lang="en-US" sz="11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1878" y="2916932"/>
            <a:ext cx="5254692" cy="113962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24363" y="3083223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Comparison Counting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24363" y="3444577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internal counter incremented at each character-level comparison, providing an algorithm-independent measure of work done.</a:t>
            </a:r>
            <a:endParaRPr lang="en-US" sz="11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1878" y="4187726"/>
            <a:ext cx="5254692" cy="113962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24363" y="4354016"/>
            <a:ext cx="484592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Cross-Algorithm Validation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524363" y="4715371"/>
            <a:ext cx="484592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from all five algorithms are verified against each other to confirm correctness before performance metrics are reported.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81878" y="5474891"/>
            <a:ext cx="5254692" cy="755452"/>
          </a:xfrm>
          <a:prstGeom prst="roundRect">
            <a:avLst>
              <a:gd name="adj" fmla="val 818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15" y="5672733"/>
            <a:ext cx="184046" cy="14724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0398" y="5629771"/>
            <a:ext cx="4628935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five algorithms produce identical match sets — only their efficiency profiles differ.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1214</Words>
  <Application>Microsoft Office PowerPoint</Application>
  <PresentationFormat>Widescreen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Roboto</vt:lpstr>
      <vt:lpstr>Raleway</vt:lpstr>
      <vt:lpstr>Raleway Light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AKSHAY CHANDRA</cp:lastModifiedBy>
  <cp:revision>2</cp:revision>
  <dcterms:created xsi:type="dcterms:W3CDTF">2026-09-16T14:55:55Z</dcterms:created>
  <dcterms:modified xsi:type="dcterms:W3CDTF">2026-09-18T09:16:07Z</dcterms:modified>
</cp:coreProperties>
</file>