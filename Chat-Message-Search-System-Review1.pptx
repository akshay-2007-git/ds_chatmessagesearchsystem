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Funnel Sans" panose="020B0604020202020204" charset="0"/>
      <p:regular r:id="rId10"/>
    </p:embeddedFont>
    <p:embeddedFont>
      <p:font typeface="Funnel Sans Bold" panose="020B0604020202020204" charset="0"/>
      <p:regular r:id="rId11"/>
    </p:embeddedFont>
    <p:embeddedFont>
      <p:font typeface="Mona Sans Semi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F9049-7436-48D8-B8A0-CCFD6D51DE96}" v="43" dt="2026-08-05T05:32:47.182"/>
    <p1510:client id="{FBDC8557-9E97-27F2-964C-A16B21D5B2C4}" v="1" dt="2026-08-05T05:35:15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75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Chat Message Search System</a:t>
            </a:r>
            <a:endParaRPr lang="en-US" sz="2750"/>
          </a:p>
        </p:txBody>
      </p:sp>
      <p:sp>
        <p:nvSpPr>
          <p:cNvPr id="4" name="Text 1"/>
          <p:cNvSpPr/>
          <p:nvPr/>
        </p:nvSpPr>
        <p:spPr>
          <a:xfrm>
            <a:off x="496119" y="2780778"/>
            <a:ext cx="5072727" cy="224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/>
              <a:t>TEAM MEMBERS</a:t>
            </a:r>
            <a:br>
              <a:rPr lang="en-US" sz="1100"/>
            </a:br>
            <a:r>
              <a:rPr lang="en-US" sz="1100"/>
              <a:t>*2510080051- Pranith</a:t>
            </a:r>
            <a:br>
              <a:rPr lang="en-US" sz="1100"/>
            </a:br>
            <a:r>
              <a:rPr lang="en-US" sz="1100"/>
              <a:t>*2510080052-Manoj</a:t>
            </a:r>
            <a:br>
              <a:rPr lang="en-US" sz="1100"/>
            </a:br>
            <a:r>
              <a:rPr lang="en-US" sz="1100"/>
              <a:t>*2510080053-Sai Charan</a:t>
            </a:r>
            <a:br>
              <a:rPr lang="en-US" sz="1100"/>
            </a:br>
            <a:r>
              <a:rPr lang="en-US" sz="1100"/>
              <a:t>*2510080046-Balaji</a:t>
            </a:r>
            <a:br>
              <a:rPr lang="en-US" sz="1100"/>
            </a:br>
            <a:r>
              <a:rPr lang="en-US" sz="1100"/>
              <a:t>*2510080055-Akshay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13B1432B-1DE9-D039-BF86-CF267C75E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164" y="3634870"/>
            <a:ext cx="2154836" cy="1508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49486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 Statement: </a:t>
            </a:r>
            <a:endParaRPr lang="en-US" sz="2200"/>
          </a:p>
        </p:txBody>
      </p:sp>
      <p:sp>
        <p:nvSpPr>
          <p:cNvPr id="4" name="Shape 1"/>
          <p:cNvSpPr/>
          <p:nvPr/>
        </p:nvSpPr>
        <p:spPr>
          <a:xfrm>
            <a:off x="3920356" y="2798154"/>
            <a:ext cx="2290465" cy="2021309"/>
          </a:xfrm>
          <a:prstGeom prst="roundRect">
            <a:avLst>
              <a:gd name="adj" fmla="val 3445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  <p:txBody>
          <a:bodyPr/>
          <a:lstStyle/>
          <a:p>
            <a:r>
              <a:rPr lang="en-IN"/>
              <a:t>Modern chat applications generate thousands of messages, making it difficult for users to quickly locate specific conversations. </a:t>
            </a:r>
          </a:p>
        </p:txBody>
      </p:sp>
      <p:sp>
        <p:nvSpPr>
          <p:cNvPr id="5" name="Text 2"/>
          <p:cNvSpPr/>
          <p:nvPr/>
        </p:nvSpPr>
        <p:spPr>
          <a:xfrm>
            <a:off x="4071640" y="1717328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4071640" y="2245296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6357342" y="1570806"/>
            <a:ext cx="2290539" cy="1728267"/>
          </a:xfrm>
          <a:prstGeom prst="roundRect">
            <a:avLst>
              <a:gd name="adj" fmla="val 3445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03863" y="1717328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Performance 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6503863" y="2245296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</a:pPr>
            <a:r>
              <a:rPr lang="en-IN" sz="1100"/>
              <a:t>Traditional scrolling through chat history is time-consuming and inefficient, especially in large group chats or long-term conversations.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071640" y="3587353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4071640" y="3893865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13" name="Picture 12" descr="MAPS &amp; DIRECTIONS - Best Private University in Telangana ...">
            <a:extLst>
              <a:ext uri="{FF2B5EF4-FFF2-40B4-BE49-F238E27FC236}">
                <a16:creationId xmlns:a16="http://schemas.microsoft.com/office/drawing/2014/main" id="{6742AAC2-5B75-F0BF-8C99-C9E44F18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101" y="3910163"/>
            <a:ext cx="1737840" cy="1551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7555"/>
            <a:ext cx="4722763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Objectives</a:t>
            </a:r>
            <a:endParaRPr lang="en-US" sz="1850"/>
          </a:p>
        </p:txBody>
      </p:sp>
      <p:sp>
        <p:nvSpPr>
          <p:cNvPr id="4" name="Text 1"/>
          <p:cNvSpPr/>
          <p:nvPr/>
        </p:nvSpPr>
        <p:spPr>
          <a:xfrm>
            <a:off x="496119" y="887909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900"/>
          </a:p>
        </p:txBody>
      </p:sp>
      <p:sp>
        <p:nvSpPr>
          <p:cNvPr id="5" name="Shape 2"/>
          <p:cNvSpPr/>
          <p:nvPr/>
        </p:nvSpPr>
        <p:spPr>
          <a:xfrm>
            <a:off x="496119" y="1076846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96119" y="1165175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Scalable storage &amp; retrieval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496119" y="1412528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a system that supports sharding and horizontal scale for billions of messages.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496119" y="1779463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900"/>
          </a:p>
        </p:txBody>
      </p:sp>
      <p:sp>
        <p:nvSpPr>
          <p:cNvPr id="9" name="Shape 6"/>
          <p:cNvSpPr/>
          <p:nvPr/>
        </p:nvSpPr>
        <p:spPr>
          <a:xfrm>
            <a:off x="496119" y="1968401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96119" y="2056730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Low-latency search</a:t>
            </a:r>
            <a:endParaRPr lang="en-US" sz="1150"/>
          </a:p>
        </p:txBody>
      </p:sp>
      <p:sp>
        <p:nvSpPr>
          <p:cNvPr id="11" name="Text 8"/>
          <p:cNvSpPr/>
          <p:nvPr/>
        </p:nvSpPr>
        <p:spPr>
          <a:xfrm>
            <a:off x="496119" y="2304083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Target sub-100ms query latency for typical lookups and &lt;5s near-real-time indexing for new messages.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496119" y="2847380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496119" y="3036317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96119" y="3124646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Secure, permission-aware results</a:t>
            </a:r>
            <a:endParaRPr lang="en-US" sz="1150"/>
          </a:p>
        </p:txBody>
      </p:sp>
      <p:sp>
        <p:nvSpPr>
          <p:cNvPr id="15" name="Text 12"/>
          <p:cNvSpPr/>
          <p:nvPr/>
        </p:nvSpPr>
        <p:spPr>
          <a:xfrm>
            <a:off x="496119" y="3371999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Enforce user and workspace permissions at query time to return only authorized messages.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496119" y="3915296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496119" y="4104233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96119" y="4192563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Accurate relevance</a:t>
            </a:r>
            <a:endParaRPr lang="en-US" sz="1150"/>
          </a:p>
        </p:txBody>
      </p:sp>
      <p:sp>
        <p:nvSpPr>
          <p:cNvPr id="19" name="Text 16"/>
          <p:cNvSpPr/>
          <p:nvPr/>
        </p:nvSpPr>
        <p:spPr>
          <a:xfrm>
            <a:off x="496119" y="4439915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Combine textual relevance with recency and metadata filters for meaningful results.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90" y="1791374"/>
            <a:ext cx="3053135" cy="1717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136600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Technology Stack</a:t>
            </a:r>
            <a:endParaRPr lang="en-US" sz="2200"/>
          </a:p>
        </p:txBody>
      </p:sp>
      <p:sp>
        <p:nvSpPr>
          <p:cNvPr id="4" name="Text 1"/>
          <p:cNvSpPr/>
          <p:nvPr/>
        </p:nvSpPr>
        <p:spPr>
          <a:xfrm>
            <a:off x="3899892" y="1632719"/>
            <a:ext cx="4752677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Ingestion: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Kafka — durable, ordered streams and decoupled producers/consumers</a:t>
            </a:r>
            <a:endParaRPr lang="en-US" sz="110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Search Engine: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Elasticsearch (Lucene) — full-text, BM25, highlighting, sharding</a:t>
            </a:r>
            <a:endParaRPr lang="en-US" sz="110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Source of Truth: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Vitess / MySQL — transactional message storage &amp; consistency</a:t>
            </a:r>
            <a:endParaRPr lang="en-US" sz="110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Cache / Permissions: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Redis — sub-ms permission lookups and access tokens</a:t>
            </a:r>
            <a:endParaRPr lang="en-US" sz="110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Workers &amp; Orchestration: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Kubernetes + consumer groups for indexers and ranking workers</a:t>
            </a:r>
            <a:endParaRPr lang="en-US" sz="110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B70BFAEA-F347-6D75-1053-EDBBF36D5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308" y="4006900"/>
            <a:ext cx="2083633" cy="13691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7016"/>
            <a:ext cx="4722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Expected Outcome</a:t>
            </a:r>
            <a:endParaRPr lang="en-US" sz="2050"/>
          </a:p>
        </p:txBody>
      </p:sp>
      <p:sp>
        <p:nvSpPr>
          <p:cNvPr id="4" name="Text 1"/>
          <p:cNvSpPr/>
          <p:nvPr/>
        </p:nvSpPr>
        <p:spPr>
          <a:xfrm>
            <a:off x="496119" y="924446"/>
            <a:ext cx="4722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Develop an efficient chat message search system that enables fast storage, retrieval, and searching of messages using appropriate data structures. The solution will:   </a:t>
            </a:r>
            <a:endParaRPr lang="en-US" sz="1000"/>
          </a:p>
        </p:txBody>
      </p:sp>
      <p:sp>
        <p:nvSpPr>
          <p:cNvPr id="5" name="Shape 2"/>
          <p:cNvSpPr/>
          <p:nvPr/>
        </p:nvSpPr>
        <p:spPr>
          <a:xfrm>
            <a:off x="496119" y="1662485"/>
            <a:ext cx="2301106" cy="1573783"/>
          </a:xfrm>
          <a:prstGeom prst="roundRect">
            <a:avLst>
              <a:gd name="adj" fmla="val 348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1077" y="1807443"/>
            <a:ext cx="201118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Reduced search time</a:t>
            </a:r>
            <a:endParaRPr lang="en-US" sz="1250"/>
          </a:p>
        </p:txBody>
      </p:sp>
      <p:sp>
        <p:nvSpPr>
          <p:cNvPr id="7" name="Text 4"/>
          <p:cNvSpPr/>
          <p:nvPr/>
        </p:nvSpPr>
        <p:spPr>
          <a:xfrm>
            <a:off x="641077" y="2083817"/>
            <a:ext cx="201118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Sub-100ms query latency for common queries through sharded indices, caches and optimized query paths.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2917701" y="1662485"/>
            <a:ext cx="2301180" cy="1573783"/>
          </a:xfrm>
          <a:prstGeom prst="roundRect">
            <a:avLst>
              <a:gd name="adj" fmla="val 348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062660" y="1807443"/>
            <a:ext cx="201126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Improved message management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3062660" y="2287935"/>
            <a:ext cx="201126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Scalable indexing and compact data structures to handle large chat datasets while keeping storage efficient.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496119" y="3356744"/>
            <a:ext cx="2301106" cy="1369665"/>
          </a:xfrm>
          <a:prstGeom prst="roundRect">
            <a:avLst>
              <a:gd name="adj" fmla="val 400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1077" y="3501703"/>
            <a:ext cx="201118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Better discovery</a:t>
            </a:r>
            <a:endParaRPr lang="en-US" sz="1250"/>
          </a:p>
        </p:txBody>
      </p:sp>
      <p:sp>
        <p:nvSpPr>
          <p:cNvPr id="13" name="Text 10"/>
          <p:cNvSpPr/>
          <p:nvPr/>
        </p:nvSpPr>
        <p:spPr>
          <a:xfrm>
            <a:off x="641077" y="3778076"/>
            <a:ext cx="201118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Relevance ranking + metadata filters to surface the most useful results and reduce duplicate queries.</a:t>
            </a:r>
            <a:endParaRPr lang="en-US" sz="1000"/>
          </a:p>
        </p:txBody>
      </p:sp>
      <p:sp>
        <p:nvSpPr>
          <p:cNvPr id="14" name="Shape 11"/>
          <p:cNvSpPr/>
          <p:nvPr/>
        </p:nvSpPr>
        <p:spPr>
          <a:xfrm>
            <a:off x="2917701" y="3356744"/>
            <a:ext cx="2301180" cy="1369665"/>
          </a:xfrm>
          <a:prstGeom prst="roundRect">
            <a:avLst>
              <a:gd name="adj" fmla="val 400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062660" y="3501703"/>
            <a:ext cx="20112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Secure &amp; auditable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>
          <a:xfrm>
            <a:off x="3062660" y="3778076"/>
            <a:ext cx="20112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Permission-aware search results and logs to preserve privacy and support audits.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226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Modules</a:t>
            </a:r>
            <a:endParaRPr lang="en-US" sz="22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30139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830139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Ingestion Module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1092398" y="2358107"/>
            <a:ext cx="130872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Kafka consumers that batch, validate, enrich (attachments, metadata) and push events to indexers and durable storage.</a:t>
            </a:r>
            <a:endParaRPr lang="en-US" sz="11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830139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830139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Search Indexer</a:t>
            </a:r>
            <a:endParaRPr lang="en-US" sz="1350"/>
          </a:p>
        </p:txBody>
      </p:sp>
      <p:sp>
        <p:nvSpPr>
          <p:cNvPr id="8" name="Text 4"/>
          <p:cNvSpPr/>
          <p:nvPr/>
        </p:nvSpPr>
        <p:spPr>
          <a:xfrm>
            <a:off x="3174578" y="2136651"/>
            <a:ext cx="13087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Worker pool that normalizes text, extracts tokens, builds inverted indices and writes to shard-aligned Elasticsearch indices.</a:t>
            </a:r>
            <a:endParaRPr lang="en-US" sz="11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830139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830139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Search API Service</a:t>
            </a:r>
            <a:endParaRPr lang="en-US" sz="1350"/>
          </a:p>
        </p:txBody>
      </p:sp>
      <p:sp>
        <p:nvSpPr>
          <p:cNvPr id="11" name="Text 6"/>
          <p:cNvSpPr/>
          <p:nvPr/>
        </p:nvSpPr>
        <p:spPr>
          <a:xfrm>
            <a:off x="5256833" y="2358107"/>
            <a:ext cx="13087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Query orchestration, permission enforcement, pagination, and routing to appropriate shards or replicas.</a:t>
            </a:r>
            <a:endParaRPr lang="en-US" sz="11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830139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830139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Ranking Engine</a:t>
            </a:r>
            <a:endParaRPr lang="en-US" sz="1350"/>
          </a:p>
        </p:txBody>
      </p:sp>
      <p:sp>
        <p:nvSpPr>
          <p:cNvPr id="14" name="Text 8"/>
          <p:cNvSpPr/>
          <p:nvPr/>
        </p:nvSpPr>
        <p:spPr>
          <a:xfrm>
            <a:off x="7339087" y="2358107"/>
            <a:ext cx="13087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Combine BM25 relevance, recency decay, user-specific boosts and metadata filters for final scoring.</a:t>
            </a:r>
            <a:endParaRPr lang="en-US" sz="1100"/>
          </a:p>
        </p:txBody>
      </p:sp>
      <p:pic>
        <p:nvPicPr>
          <p:cNvPr id="15" name="Picture 14" descr="MAPS &amp; DIRECTIONS - Best Private University in Telangana ...">
            <a:extLst>
              <a:ext uri="{FF2B5EF4-FFF2-40B4-BE49-F238E27FC236}">
                <a16:creationId xmlns:a16="http://schemas.microsoft.com/office/drawing/2014/main" id="{E1A33DDE-4B84-E399-1D3E-AC93510EF8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222" y="3596879"/>
            <a:ext cx="2203185" cy="1814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93577"/>
            <a:ext cx="2037219" cy="1956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863724"/>
            <a:ext cx="432777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Plan (4-week Roadmap)</a:t>
            </a:r>
            <a:endParaRPr lang="en-US" sz="2200"/>
          </a:p>
        </p:txBody>
      </p:sp>
      <p:sp>
        <p:nvSpPr>
          <p:cNvPr id="4" name="Text 1"/>
          <p:cNvSpPr/>
          <p:nvPr/>
        </p:nvSpPr>
        <p:spPr>
          <a:xfrm>
            <a:off x="4324796" y="1359843"/>
            <a:ext cx="432777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Weeks 1: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Architecture design, schema for messages, Kafka setup, Vitess/MySQL provisioning</a:t>
            </a:r>
            <a:endParaRPr lang="en-US" sz="110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Weeks 2: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Elasticsearch index design, sharding strategy, implement basic indexer workers</a:t>
            </a:r>
            <a:endParaRPr lang="en-US" sz="110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Weeks 3: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Search API, permission enforcement, query optimization and ranking integration</a:t>
            </a:r>
            <a:endParaRPr lang="en-US" sz="110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b="1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Weeks 4:</a:t>
            </a:r>
            <a:r>
              <a:rPr lang="en-US" sz="110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Load &amp; performance testing (p99), caching tuning, end-to-end integration and deployment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4324796" y="3482504"/>
            <a:ext cx="4327773" cy="779562"/>
          </a:xfrm>
          <a:prstGeom prst="roundRect">
            <a:avLst>
              <a:gd name="adj" fmla="val 7638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3702323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5494" y="3645471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Deliverables: System design doc, deployable indexer &amp; API, benchmark reports, and final demo.</a:t>
            </a:r>
            <a:endParaRPr lang="en-US" sz="1100"/>
          </a:p>
        </p:txBody>
      </p:sp>
      <p:pic>
        <p:nvPicPr>
          <p:cNvPr id="8" name="Picture 7" descr="MAPS &amp; DIRECTIONS - Best Private University in Telangana ...">
            <a:extLst>
              <a:ext uri="{FF2B5EF4-FFF2-40B4-BE49-F238E27FC236}">
                <a16:creationId xmlns:a16="http://schemas.microsoft.com/office/drawing/2014/main" id="{8C1B4FAE-6382-FAF6-6D4A-B70E2E8A0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607" y="3482504"/>
            <a:ext cx="2240660" cy="19563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2</cp:revision>
  <dcterms:created xsi:type="dcterms:W3CDTF">2026-08-05T05:13:50Z</dcterms:created>
  <dcterms:modified xsi:type="dcterms:W3CDTF">2026-10-08T03:46:35Z</dcterms:modified>
</cp:coreProperties>
</file>