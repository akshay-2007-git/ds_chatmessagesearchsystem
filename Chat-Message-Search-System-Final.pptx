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33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338"/>
                </a:solidFill>
                <a:latin typeface="Arial"/>
              </a:rPr>
              <a:t>Execution time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 (ms)</c:v>
                </c:pt>
              </c:strCache>
            </c:strRef>
          </c:tx>
          <c:spPr>
            <a:solidFill>
              <a:srgbClr val="0E8F8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Naïve</c:v>
                  </c:pt>
                  <c:pt idx="1">
                    <c:v>KMP</c:v>
                  </c:pt>
                  <c:pt idx="2">
                    <c:v>Rabin–Karp</c:v>
                  </c:pt>
                  <c:pt idx="3">
                    <c:v>Z Algo</c:v>
                  </c:pt>
                  <c:pt idx="4">
                    <c:v>Aho–Corasick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0.9954</c:v>
                </c:pt>
                <c:pt idx="1">
                  <c:v>0.1278</c:v>
                </c:pt>
                <c:pt idx="2">
                  <c:v>0.1386</c:v>
                </c:pt>
                <c:pt idx="3">
                  <c:v>24.1979</c:v>
                </c:pt>
                <c:pt idx="4">
                  <c:v>4.5574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5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1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Message Search System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Project  |  Efficient String Pattern Matching in Chat Messages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Names &amp; Roll Numbers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4884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 Chandra  —  2510080055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Manoj  —  2510080052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Pranith Reddy  —  2510080051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Balaji  —  2510080046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Charan  —  2510080053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&amp; College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21488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AI&amp;DS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338"/>
          </a:solidFill>
          <a:ln w="12700">
            <a:solidFill>
              <a:srgbClr val="1B23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Message Search System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977640" cy="16002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64008" cy="160020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2344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81912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apps store thousands of messages. Finding a word or phrase in a long history means scanning text, so the choice of string-matching algorithm directly affects speed.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3977640" cy="16002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143000"/>
            <a:ext cx="64008" cy="160020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12344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the Project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581912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linear scan is expensive and does not scale. There is a need to compare classical algorithms on real chat data with measurable results.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822960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71800"/>
            <a:ext cx="64008" cy="141732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632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10712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and benchmarks five classical string-matching algorithms on a chat message dataset, connecting theoretical DSA study with practical text search.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338"/>
          </a:solidFill>
          <a:ln w="12700">
            <a:solidFill>
              <a:srgbClr val="1B23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Message Search System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15544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2801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number of chat messages grows, finding a specific word or phrase in a large conversation history becomes difficult and time-consuming. A naive linear scan over thousands of messages is computationally expensive and does not scale.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must search and retrieve relevant chat messages quickly, using string-processing algorithms, with fast and measurable pattern matching across the whole message collection.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338"/>
          </a:solidFill>
          <a:ln w="12700">
            <a:solidFill>
              <a:srgbClr val="1B23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Message Search System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words or phrases within chat messages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multiple string-matching algorithms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algorithms by execution time and number of comparisons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and display messages containing the searched pattern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the practical application of DSA to text search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solidFill>
            <a:srgbClr val="1B2338"/>
          </a:solidFill>
          <a:ln w="12700">
            <a:solidFill>
              <a:srgbClr val="1B23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657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into how each algorithm performs under different search conditions, with a clear comparison by time, comparisons and accuracy.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338"/>
          </a:solidFill>
          <a:ln w="12700">
            <a:solidFill>
              <a:srgbClr val="1B23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Message Search System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394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Galal, Koopman &amp; Zuccon (2024)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behaviour, intent and pain-points in professional instant messaging (Slack, Teams)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Zhang, Simoff &amp; Debenham (2006)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mining for chat message analysis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Hui, He &amp; Dong (2008)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retrieval and classification from chat-room servers using Bayesian networks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Avula et al. (2019)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search into a conversational platform for collaborative search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Schneider et al. (2024)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of applications, architectures and components of conversational search systems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pPr indent="0" marL="0">
              <a:buNone/>
            </a:pPr>
            <a:r>
              <a:rPr lang="en-US" sz="13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 targets user behaviour, NLP and system design. Few studies compare classical string-matching algorithms directly on chat data with empirical benchmarks.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338"/>
          </a:solidFill>
          <a:ln w="12700">
            <a:solidFill>
              <a:srgbClr val="1B23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Message Search System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DSA-focused chat search system that implements five classical string-matching algorithms on the same dataset and benchmarks them: five algorithms, one dataset, measurable and reproducible results.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977640" cy="11887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64008" cy="118872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0116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or phrase search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359152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word or multi-word phrase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920240"/>
            <a:ext cx="3977640" cy="11887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920240"/>
            <a:ext cx="64008" cy="11887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20116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selection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359152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of five, or compare all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3977640" cy="11887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46120"/>
            <a:ext cx="64008" cy="118872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3375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results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685032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text, sender, timestamp, match position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246120"/>
            <a:ext cx="3977640" cy="11887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3246120"/>
            <a:ext cx="64008" cy="11887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92040" y="33375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benchmarking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3685032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and execution time per run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338"/>
          </a:solidFill>
          <a:ln w="12700">
            <a:solidFill>
              <a:srgbClr val="1B23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Message Search System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0896" y="1280160"/>
            <a:ext cx="1298448" cy="640080"/>
          </a:xfrm>
          <a:prstGeom prst="rect">
            <a:avLst/>
          </a:prstGeom>
          <a:solidFill>
            <a:srgbClr val="1B2338"/>
          </a:solidFill>
          <a:ln w="12700">
            <a:solidFill>
              <a:srgbClr val="1B23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0896" y="1280160"/>
            <a:ext cx="1298448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Dataset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10896" y="2011680"/>
            <a:ext cx="129844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stored as objects: ID, sender, timestamp, content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609344" y="1280160"/>
            <a:ext cx="146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755648" y="1280160"/>
            <a:ext cx="1298448" cy="640080"/>
          </a:xfrm>
          <a:prstGeom prst="rect">
            <a:avLst/>
          </a:prstGeom>
          <a:solidFill>
            <a:srgbClr val="1B2338"/>
          </a:solidFill>
          <a:ln w="12700">
            <a:solidFill>
              <a:srgbClr val="1B23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55648" y="1280160"/>
            <a:ext cx="1298448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755648" y="2011680"/>
            <a:ext cx="129844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Normalises message text and the search pattern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054096" y="1280160"/>
            <a:ext cx="146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200400" y="1280160"/>
            <a:ext cx="1298448" cy="640080"/>
          </a:xfrm>
          <a:prstGeom prst="rect">
            <a:avLst/>
          </a:prstGeom>
          <a:solidFill>
            <a:srgbClr val="1B2338"/>
          </a:solidFill>
          <a:ln w="12700">
            <a:solidFill>
              <a:srgbClr val="1B23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00400" y="1280160"/>
            <a:ext cx="1298448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2011680"/>
            <a:ext cx="129844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or phrase plus algorithm choice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498848" y="1280160"/>
            <a:ext cx="146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645152" y="1280160"/>
            <a:ext cx="1298448" cy="64008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45152" y="1280160"/>
            <a:ext cx="1298448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645152" y="2011680"/>
            <a:ext cx="129844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Naïve, KMP, Rabin–Karp, Z, Aho–Corasick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1280160"/>
            <a:ext cx="146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089904" y="1280160"/>
            <a:ext cx="1298448" cy="640080"/>
          </a:xfrm>
          <a:prstGeom prst="rect">
            <a:avLst/>
          </a:prstGeom>
          <a:solidFill>
            <a:srgbClr val="1B2338"/>
          </a:solidFill>
          <a:ln w="12700">
            <a:solidFill>
              <a:srgbClr val="1B233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89904" y="1280160"/>
            <a:ext cx="1298448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Detection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089904" y="2011680"/>
            <a:ext cx="129844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matching messages and positions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388352" y="1280160"/>
            <a:ext cx="146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534656" y="1280160"/>
            <a:ext cx="1298448" cy="640080"/>
          </a:xfrm>
          <a:prstGeom prst="rect">
            <a:avLst/>
          </a:prstGeom>
          <a:solidFill>
            <a:srgbClr val="1B2338"/>
          </a:solidFill>
          <a:ln w="12700">
            <a:solidFill>
              <a:srgbClr val="1B233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34656" y="1280160"/>
            <a:ext cx="1298448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Metrics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534656" y="2011680"/>
            <a:ext cx="129844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comparisons, time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246120"/>
            <a:ext cx="8229600" cy="123444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329184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structure: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ID (unique identifier), Sender (author), Timestamp (date and time), Message Content (raw text searched).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of all five algorithms are cross-checked for identical match sets.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338"/>
          </a:solidFill>
          <a:ln w="12700">
            <a:solidFill>
              <a:srgbClr val="1B23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Message Search System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097280"/>
            <a:ext cx="457200" cy="45720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600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chat dataset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40280" y="1097280"/>
            <a:ext cx="457200" cy="45720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402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1600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text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11880" y="1097280"/>
            <a:ext cx="457200" cy="45720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118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1600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query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83480" y="1097280"/>
            <a:ext cx="457200" cy="45720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834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1600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algorithm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1097280"/>
            <a:ext cx="457200" cy="45720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1600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matches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26680" y="1097280"/>
            <a:ext cx="457200" cy="45720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266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1600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and compare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383280"/>
                <a:gridCol w="1645920"/>
                <a:gridCol w="17373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Naïve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pattern at every 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LPS array avoids re-comparisons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Rabin–Karp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 hash, verify hash matches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Algorithm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Z-array on pattern + 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Aho–Corasick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 with failure links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O(total pattern)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+ matches)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338"/>
          </a:solidFill>
          <a:ln w="12700">
            <a:solidFill>
              <a:srgbClr val="1B23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Message Search System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977640" cy="16002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64008" cy="160020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2344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81912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Java: all algorithms, data structures and the console interface are implemented from scratch.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3977640" cy="16002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143000"/>
            <a:ext cx="64008" cy="160020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12344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581912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for message storage; Trie with failure links for Aho–Corasick; LPS and Z arrays.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3977640" cy="15087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71800"/>
            <a:ext cx="64008" cy="150876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632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10712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8 or higher, a Java IDE or terminal (for example IntelliJ, Eclipse or VS Code), Windows / Linux / macOS. [Confirm versions]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971800"/>
            <a:ext cx="3977640" cy="15087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971800"/>
            <a:ext cx="64008" cy="150876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30632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410712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PC or laptop, 4 GB RAM or more, dual-core processor or better. [Confirm specs]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338"/>
          </a:solidFill>
          <a:ln w="12700">
            <a:solidFill>
              <a:srgbClr val="1B23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Message Search System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ID, sender, timestamp and content in an ArrayList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Normalises pattern and message text for consistent matching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 modules (×5)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Naïve, KMP, Rabin–Karp, Z Algorithm, Aho–Corasick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 character comparisons; times each search loop in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and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Cross-checks match sets; shows message, sender, timestamp, position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5204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process:  </a:t>
            </a:r>
            <a:pPr indent="0" marL="0">
              <a:buNone/>
            </a:pPr>
            <a:r>
              <a:rPr lang="en-US" sz="14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a pattern → selects one algorithm (or "Compare All") → system scans every message → matches and performance metrics are displayed.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338"/>
          </a:solidFill>
          <a:ln w="12700">
            <a:solidFill>
              <a:srgbClr val="1B23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Screenshots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Message Search System</a:t>
            </a:r>
            <a:endParaRPr lang="en-US" sz="1000" dirty="0"/>
          </a:p>
        </p:txBody>
      </p:sp>
      <p:pic>
        <p:nvPicPr>
          <p:cNvPr id="7" name="Image 0" descr="shot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840480" cy="33832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4462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screen: "Compare All Algorithms" for pattern "machine"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480560" y="1005840"/>
          <a:ext cx="42976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3154680"/>
          <a:ext cx="42976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822960"/>
                <a:gridCol w="1188720"/>
                <a:gridCol w="100584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(ms)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Naïve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Rabin–Karp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Algorithm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24.1979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Aho–Corasick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4.5574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338"/>
          </a:solidFill>
          <a:ln w="12700">
            <a:solidFill>
              <a:srgbClr val="1B23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Performance Observations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Message Search System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77640" cy="100584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64008" cy="100584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1887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agree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3619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algorithm found the same 2 matching messages for "machine".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3977640" cy="100584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097280"/>
            <a:ext cx="64008" cy="100584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11887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fastest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53619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0.1278 ms, even though it made 451 comparisons.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3977640" cy="100584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240280"/>
            <a:ext cx="64008" cy="100584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3317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Rabin–Karp most efficient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67919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17 comparisons because hash filtering rejects most positions; 0.1386 ms.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240280"/>
            <a:ext cx="3977640" cy="100584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240280"/>
            <a:ext cx="64008" cy="100584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23317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Algorithm slowest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267919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30 comparisons but 24.1979 ms, the highest wall-clock time.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3977640" cy="100584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383280"/>
            <a:ext cx="64008" cy="100584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4747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Aho–Corasick overhead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82219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4.5574 ms: trie construction cost shows up; it is designed for multi-pattern search.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338"/>
          </a:solidFill>
          <a:ln w="12700">
            <a:solidFill>
              <a:srgbClr val="1B23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Message Search System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194560"/>
                <a:gridCol w="2651760"/>
                <a:gridCol w="3017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"machine"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word, small 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Pass: all 5 algorithms return 2 matches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Non-existing pattern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not in any message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Expected: 0 matches from all algorithms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pattern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 characters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Expected: identical match sets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pattern / phrase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Multi-word phrase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Expected: identical match sets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Varying dataset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numbers of messages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and comparisons recorded per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Varying message length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vs long messages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and comparisons recorded per length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Cross-algorithm validation: all five must return identical match sets before metrics are reported. Rows 2–6 are planned/expected; update with observed results.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338"/>
          </a:solidFill>
          <a:ln w="12700">
            <a:solidFill>
              <a:srgbClr val="1B23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Message Search System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accurate retrieval of messages containing a word or phrase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algorithms on one dataset give a fair, reproducible comparison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both comparisons and execution time, not just one measure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show sender, timestamp and match position for context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of all algorithms confirms correctness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theoretical DSA concepts to a practical application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338"/>
          </a:solidFill>
          <a:ln w="12700">
            <a:solidFill>
              <a:srgbClr val="1B23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Message Search System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0604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4008" cy="141732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280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apps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62763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search over chat history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0604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88720"/>
            <a:ext cx="64008" cy="14173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280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tools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62763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and Teams style workspace search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60604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188720"/>
            <a:ext cx="64008" cy="141732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280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logs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62763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past issues and keywords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260604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788920"/>
            <a:ext cx="64008" cy="14173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mining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22783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detection in conversation logs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46120" y="2788920"/>
            <a:ext cx="260604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46120" y="2788920"/>
            <a:ext cx="64008" cy="141732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900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429000" y="322783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and benchmarking string algorithms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35040" y="2788920"/>
            <a:ext cx="260604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2788920"/>
            <a:ext cx="64008" cy="14173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Multi-keyword filtering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322783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Aho–Corasick for moderation or alerts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338"/>
          </a:solidFill>
          <a:ln w="12700">
            <a:solidFill>
              <a:srgbClr val="1B23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Message Search System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 comparison across algorithms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dataset and same queries for all five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Counting comparisons consistently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 incremented at each character-level comparison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 timing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Wall-clock time captured around each algorithm's search loop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Verifying correctness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Cross-algorithm validation of match sets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 and Z-array complexity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from scratch and tested on small examples first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338"/>
          </a:solidFill>
          <a:ln w="12700">
            <a:solidFill>
              <a:srgbClr val="1B23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Message Search System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larger, real-world chat datasets with more messages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Boyer–Moore and other algorithms to the comparison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case-insensitive, fuzzy and regex search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graphical or web interface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messages (inverted index, suffix tree) for faster repeated searches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multi-keyword search and ranking of results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338"/>
          </a:solidFill>
          <a:ln w="12700">
            <a:solidFill>
              <a:srgbClr val="1B23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Message Search System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Java chat message search system with five classical string-matching algorithms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algorithms returned identical, correct matches for "machine"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Rabin–Karp used the fewest comparisons (17); KMP was fastest (0.1278 ms)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comparisons do not always mean less time: Z Algorithm and Aho–Corasick show overhead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connects DSA theory to practical text search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1B2338"/>
          </a:solidFill>
          <a:ln w="12700">
            <a:solidFill>
              <a:srgbClr val="1B23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algorithms. One dataset. Measurable, reproducible results.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338"/>
          </a:solidFill>
          <a:ln w="12700">
            <a:solidFill>
              <a:srgbClr val="1B23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Message Search System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Galal, Koopman &amp; Zuccon (2024). Searching in Professional Instant Messaging Applications: User Behaviour, Intent, and Pain-points.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Zhang, Simoff &amp; Debenham (2006). Text Mining for Chat Message Analysis.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Hui, He &amp; Dong (2008). Message Retrieval and Classification from Chat Room Servers Using Bayesian Networks.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Avula et al. (2019). Embedding Search into a Conversational Platform to Support Collaborative Search.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et al. (2024). Engineering Conversational Search Systems: A Review of Applications, Architectures, and Functional Components.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Cormen, Leiserson, Rivest &amp; Stein. Introduction to Algorithms (string matching chapter), MIT Press.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 Message Search System</dc:title>
  <dc:subject>PptxGenJS Presentation</dc:subject>
  <dc:creator>PptxGenJS</dc:creator>
  <cp:lastModifiedBy>PptxGenJS</cp:lastModifiedBy>
  <cp:revision>1</cp:revision>
  <dcterms:created xsi:type="dcterms:W3CDTF">2026-10-04T07:47:52Z</dcterms:created>
  <dcterms:modified xsi:type="dcterms:W3CDTF">2026-10-04T07:47:52Z</dcterms:modified>
</cp:coreProperties>
</file>